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ROAD SAFETY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VOL. 01</a:t>
            </a:r>
          </a:p>
        </p:txBody>
      </p:sp>
      <p:pic>
        <p:nvPicPr>
          <p:cNvPr id="4" name="Picture 3" descr="iit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731520"/>
            <a:ext cx="914400" cy="914400"/>
          </a:xfrm>
          <a:prstGeom prst="rect">
            <a:avLst/>
          </a:prstGeom>
        </p:spPr>
      </p:pic>
      <p:pic>
        <p:nvPicPr>
          <p:cNvPr id="5" name="Picture 4" descr="ministry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73152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AAAAA"/>
                </a:solidFill>
                <a:latin typeface="Consolas"/>
              </a:defRPr>
            </a:pPr>
            <a:r>
              <a:t>HACKATHON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 i="0">
                <a:solidFill>
                  <a:srgbClr val="FFFFFF"/>
                </a:solidFill>
                <a:latin typeface="Georgia"/>
              </a:defRPr>
            </a:pPr>
            <a:r>
              <a:t>DriveLegal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1">
                <a:solidFill>
                  <a:srgbClr val="BBBBBB"/>
                </a:solidFill>
                <a:latin typeface="Georgia"/>
              </a:defRPr>
            </a:pPr>
            <a:r>
              <a:t>Enterprise Local-First Traffic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707070"/>
                </a:solidFill>
                <a:latin typeface="Segoe UI"/>
              </a:defRPr>
            </a:pPr>
            <a:r>
              <a:t>100% offline-capable challan issuance, edge AI vehicle detection, and multi-lingual legal chatbot. Zero dependence on cellular networks.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Team Git Gud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AAAAA"/>
                </a:solidFill>
                <a:latin typeface="Consolas"/>
              </a:defRPr>
            </a:pPr>
            <a:r>
              <a:t>CHAITANYA BHARDWAJ  |  IIT MADRAS  |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CENTRE OF EXCELLENCE FOR ROAD SAFETY, IIT MADRAS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ACT I  |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A8A8A"/>
                </a:solidFill>
                <a:latin typeface="Consolas"/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A0A0B"/>
                </a:solidFill>
                <a:latin typeface="Georgia"/>
              </a:defRPr>
            </a:pPr>
            <a:r>
              <a:t>Remote highways cripple</a:t>
            </a:r>
            <a:br/>
            <a:r>
              <a:t>cloud-dependent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91440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0"/>
              </a:spcAft>
              <a:buChar char="•"/>
            </a:pPr>
            <a:r>
              <a:rPr sz="1500" b="1">
                <a:solidFill>
                  <a:srgbClr val="FF6B35"/>
                </a:solidFill>
                <a:latin typeface="Segoe UI"/>
              </a:rPr>
              <a:t>Network Blackouts — </a:t>
            </a:r>
            <a:r>
              <a:rPr sz="1500" b="0">
                <a:solidFill>
                  <a:srgbClr val="525252"/>
                </a:solidFill>
                <a:latin typeface="Segoe UI"/>
              </a:rPr>
              <a:t>67% of Indian highways lack reliable cellular connectivity. Cloud-dependent enforcement tools are completely useless when officers need them most.</a:t>
            </a:r>
          </a:p>
          <a:p>
            <a:pPr algn="l">
              <a:spcBef>
                <a:spcPts val="0"/>
              </a:spcBef>
              <a:spcAft>
                <a:spcPts val="2800"/>
              </a:spcAft>
              <a:buChar char="•"/>
            </a:pPr>
            <a:r>
              <a:rPr sz="1500" b="1">
                <a:solidFill>
                  <a:srgbClr val="FF6B35"/>
                </a:solidFill>
                <a:latin typeface="Segoe UI"/>
              </a:rPr>
              <a:t>Fragmented Laws — </a:t>
            </a:r>
            <a:r>
              <a:rPr sz="1500" b="0">
                <a:solidFill>
                  <a:srgbClr val="525252"/>
                </a:solidFill>
                <a:latin typeface="Segoe UI"/>
              </a:rPr>
              <a:t>29 Indian states each have different local compounding fees and penalty structures. Officers carry outdated paper manuals that confuse both enforcers and citizens.</a:t>
            </a:r>
          </a:p>
          <a:p>
            <a:pPr algn="l">
              <a:spcBef>
                <a:spcPts val="0"/>
              </a:spcBef>
              <a:spcAft>
                <a:spcPts val="2800"/>
              </a:spcAft>
              <a:buChar char="•"/>
            </a:pPr>
            <a:r>
              <a:rPr sz="1500" b="1">
                <a:solidFill>
                  <a:srgbClr val="FF6B35"/>
                </a:solidFill>
                <a:latin typeface="Segoe UI"/>
              </a:rPr>
              <a:t>Manual Errors — </a:t>
            </a:r>
            <a:r>
              <a:rPr sz="1500" b="0">
                <a:solidFill>
                  <a:srgbClr val="525252"/>
                </a:solidFill>
                <a:latin typeface="Segoe UI"/>
              </a:rPr>
              <a:t>Paper-based data entry is slow, error-prone, and leads to unrecorded violations. Fines get miscalculated. Evidence gets lost. DriveLegal eliminates all of this.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8A8A8A"/>
                </a:solidFill>
                <a:latin typeface="Consolas"/>
              </a:defRPr>
            </a:pPr>
            <a:r>
              <a:t>DRIVELEGAL  |  GIT GUD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8A8A8A"/>
                </a:solidFill>
                <a:latin typeface="Consolas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ACT II  | 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07070"/>
                </a:solidFill>
                <a:latin typeface="Consolas"/>
              </a:defRPr>
            </a:pPr>
            <a:r>
              <a:t>SALIENT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What DriveLegal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6B35"/>
                </a:solidFill>
                <a:latin typeface="Georgia"/>
              </a:defRPr>
            </a:pPr>
            <a:r>
              <a:t>100% Offline-First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Segoe UI"/>
              </a:defRPr>
            </a:pPr>
            <a:r>
              <a:t>Issue challans and capture GPS geolocations with zero internet. Data queues in IndexedDB and syncs automatically when network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6B35"/>
                </a:solidFill>
                <a:latin typeface="Georgia"/>
              </a:defRPr>
            </a:pPr>
            <a:r>
              <a:t>Edge AI Vehicle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Segoe UI"/>
              </a:defRPr>
            </a:pPr>
            <a:r>
              <a:t>TensorFlow.js COCO-SSD model runs entirely on-device. Instant vehicle type classification without any cloud API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6B35"/>
                </a:solidFill>
                <a:latin typeface="Georgia"/>
              </a:defRPr>
            </a:pPr>
            <a:r>
              <a:t>AI Contextual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Segoe UI"/>
              </a:defRPr>
            </a:pPr>
            <a:r>
              <a:t>Actively prevents manual data-entry errors in the field (e.g., hiding 'Riding Without Helmet' if a 4-wheeler is detected).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6B35"/>
                </a:solidFill>
                <a:latin typeface="Georgia"/>
              </a:defRPr>
            </a:pPr>
            <a:r>
              <a:t>Dynamic AI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Segoe UI"/>
              </a:defRPr>
            </a:pPr>
            <a:r>
              <a:t>Calculates precise administrative/towing surcharges based on AI vehicle classification, strictly preserving the base Statutory Fine.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6B35"/>
                </a:solidFill>
                <a:latin typeface="Georgia"/>
              </a:defRPr>
            </a:pPr>
            <a:r>
              <a:t>Multi-Lingual AI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Segoe UI"/>
              </a:defRPr>
            </a:pPr>
            <a:r>
              <a:t>Offline NLP engine via Fuse.js. Officers query complex traffic rules in English, Hindi, and German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6B35"/>
                </a:solidFill>
                <a:latin typeface="Georgia"/>
              </a:defRPr>
            </a:pPr>
            <a:r>
              <a:t>Instant Historical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749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Segoe UI"/>
              </a:defRPr>
            </a:pPr>
            <a:r>
              <a:t>Officers can check past fines instantly using a highly realistic simulated traffic database, eliminating wait times.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DRIVELEGAL  |  GIT GUD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ACT II  | 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ACT III  |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A8A8A"/>
                </a:solidFill>
                <a:latin typeface="Consolas"/>
              </a:defRPr>
            </a:pPr>
            <a:r>
              <a:t>END-TO-END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A0A0B"/>
                </a:solidFill>
                <a:latin typeface="Georgia"/>
              </a:defRPr>
            </a:pPr>
            <a:r>
              <a:t>Edge-to-Cloud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525252"/>
                </a:solidFill>
                <a:latin typeface="Segoe UI"/>
              </a:defRPr>
            </a:pPr>
            <a:r>
              <a:t>Local-first sync: from violation capture to admin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828800" cy="100584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1. OFFICER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Inputs vehicle plate number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Zero-click GPS reverse-geocode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Nominatim API fallback if needed</a:t>
            </a:r>
          </a:p>
        </p:txBody>
      </p:sp>
      <p:sp>
        <p:nvSpPr>
          <p:cNvPr id="10" name="Chevron 9"/>
          <p:cNvSpPr/>
          <p:nvPr/>
        </p:nvSpPr>
        <p:spPr>
          <a:xfrm>
            <a:off x="2697480" y="3136392"/>
            <a:ext cx="228600" cy="228600"/>
          </a:xfrm>
          <a:prstGeom prst="chevron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2743200"/>
            <a:ext cx="1828800" cy="10058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88036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2. LOCAL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886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localforage writes to IndexedDB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Queries local geofenced rules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JWT token persisted offline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46320" y="3136392"/>
            <a:ext cx="228600" cy="228600"/>
          </a:xfrm>
          <a:prstGeom prst="chevron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743200"/>
            <a:ext cx="1828800" cy="100584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88036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3. NETWORK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886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window.onLine listener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Detects reconnection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Triggers sync process</a:t>
            </a:r>
          </a:p>
        </p:txBody>
      </p:sp>
      <p:sp>
        <p:nvSpPr>
          <p:cNvPr id="18" name="Chevron 17"/>
          <p:cNvSpPr/>
          <p:nvPr/>
        </p:nvSpPr>
        <p:spPr>
          <a:xfrm>
            <a:off x="6995160" y="3136392"/>
            <a:ext cx="228600" cy="228600"/>
          </a:xfrm>
          <a:prstGeom prst="chevron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2743200"/>
            <a:ext cx="182880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88036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4. BATCH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86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POST /api/challans/batch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JWT Bearer auth header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Flush queue on HTTP 200</a:t>
            </a:r>
          </a:p>
        </p:txBody>
      </p:sp>
      <p:sp>
        <p:nvSpPr>
          <p:cNvPr id="22" name="Chevron 21"/>
          <p:cNvSpPr/>
          <p:nvPr/>
        </p:nvSpPr>
        <p:spPr>
          <a:xfrm>
            <a:off x="9144000" y="3136392"/>
            <a:ext cx="228600" cy="228600"/>
          </a:xfrm>
          <a:prstGeom prst="chevron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2743200"/>
            <a:ext cx="1828800" cy="1005840"/>
          </a:xfrm>
          <a:prstGeom prst="rect">
            <a:avLst/>
          </a:prstGeom>
          <a:solidFill>
            <a:srgbClr val="0A0A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288036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5. BACKEND +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886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Validates &amp; persists to MongoDB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Generates realistic mock data</a:t>
            </a:r>
          </a:p>
          <a:p>
            <a:pPr algn="l">
              <a:spcAft>
                <a:spcPts val="300"/>
              </a:spcAft>
              <a:defRPr sz="1000">
                <a:solidFill>
                  <a:srgbClr val="525252"/>
                </a:solidFill>
                <a:latin typeface="Segoe UI"/>
              </a:defRPr>
            </a:pPr>
            <a:r>
              <a:t>Leaflet admin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8A8A8A"/>
                </a:solidFill>
                <a:latin typeface="Consolas"/>
              </a:defRPr>
            </a:pPr>
            <a:r>
              <a:t>DRIVELEGAL  |  GIT GUD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8A8A8A"/>
                </a:solidFill>
                <a:latin typeface="Consolas"/>
              </a:defRPr>
            </a:pPr>
            <a:r>
              <a:t>ACT III  | 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ACT IV  | 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A8A8A"/>
                </a:solidFill>
                <a:latin typeface="Consolas"/>
              </a:defRPr>
            </a:pPr>
            <a: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0A0A0B"/>
                </a:solidFill>
                <a:latin typeface="Georgia"/>
              </a:defRPr>
            </a:pPr>
            <a:r>
              <a:t>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A0A0B"/>
                </a:solidFill>
                <a:latin typeface="Georgia"/>
              </a:defRPr>
            </a:pPr>
            <a: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200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React 18 with Vite bundler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localforage for IndexedDB offline storage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Leaflet + React-Leaflet for mapping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Tremor (@tremor/react) analytics UI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HTML5 Geolocation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6B35"/>
                </a:solidFill>
                <a:latin typeface="Consolas"/>
              </a:defRPr>
            </a:pPr>
            <a:r>
              <a:t>EDGE AI &amp; SPATIAL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A0A0B"/>
                </a:solidFill>
                <a:latin typeface="Georgia"/>
              </a:defRPr>
            </a:pPr>
            <a:r>
              <a:t>TF.js + Turf.js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26080"/>
            <a:ext cx="3200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TensorFlow.js with COCO-SSD model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100% on-device inference, zero API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Fuse.js fuzzy NLP search engine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@turf/turf offline spatial analysis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Multi-lingual: English, Hindi, German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8A8A8A"/>
                </a:solidFill>
                <a:latin typeface="Consolas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A0A0B"/>
                </a:solidFill>
                <a:latin typeface="Georgia"/>
              </a:defRPr>
            </a:pPr>
            <a:r>
              <a:t>Node + 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26080"/>
            <a:ext cx="3200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Node.js + Express REST API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MongoDB via Mongoose ODM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bcryptjs password hashing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JWT stateless authentication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25252"/>
                </a:solidFill>
                <a:latin typeface="Segoe UI"/>
              </a:defRPr>
              <a:buChar char="•"/>
            </a:pPr>
            <a:r>
              <a:t>/api/challans/batch sync endpoint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8A8A8A"/>
                </a:solidFill>
                <a:latin typeface="Consolas"/>
              </a:defRPr>
            </a:pPr>
            <a:r>
              <a:t>DRIVELEGAL  |  GIT GUD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8A8A8A"/>
                </a:solidFill>
                <a:latin typeface="Consolas"/>
              </a:defRPr>
            </a:pPr>
            <a:r>
              <a:t>ACT IV  | 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ACT V  |  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07070"/>
                </a:solidFill>
                <a:latin typeface="Consolas"/>
              </a:defRPr>
            </a:pPr>
            <a:r>
              <a:t>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Why DriveLegal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400" b="1">
                <a:solidFill>
                  <a:srgbClr val="FF6B35"/>
                </a:solidFill>
                <a:latin typeface="Segoe UI"/>
              </a:rPr>
              <a:t>True Offline Resilience — </a:t>
            </a:r>
            <a:r>
              <a:rPr sz="1400" b="0">
                <a:solidFill>
                  <a:srgbClr val="999999"/>
                </a:solidFill>
                <a:latin typeface="Segoe UI"/>
              </a:rPr>
              <a:t>Unlike market alternatives that fail without 4G/5G, DriveLegal functions flawlessly in remote dead zones. Full IndexedDB persistence ensures zero data loss even after browser restarts.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400" b="1">
                <a:solidFill>
                  <a:srgbClr val="FF6B35"/>
                </a:solidFill>
                <a:latin typeface="Segoe UI"/>
              </a:rPr>
              <a:t>Zero Latency — </a:t>
            </a:r>
            <a:r>
              <a:rPr sz="1400" b="0">
                <a:solidFill>
                  <a:srgbClr val="999999"/>
                </a:solidFill>
                <a:latin typeface="Segoe UI"/>
              </a:rPr>
              <a:t>Edge AI and local data storage mean no waiting for cloud API responses. Vehicle classification happens on-device in under 100 milliseconds. Instant challan generation.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400" b="1">
                <a:solidFill>
                  <a:srgbClr val="FF6B35"/>
                </a:solidFill>
                <a:latin typeface="Segoe UI"/>
              </a:rPr>
              <a:t>Automated Compounding Escalation — </a:t>
            </a:r>
            <a:r>
              <a:rPr sz="1400" b="0">
                <a:solidFill>
                  <a:srgbClr val="999999"/>
                </a:solidFill>
                <a:latin typeface="Segoe UI"/>
              </a:rPr>
              <a:t>DriveLegal doesn't just digitize paper tickets; its backend dynamically escalates penalty severity based on the specific geometry of the violation (School Zones, Hospitals) and historical data.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400" b="1">
                <a:solidFill>
                  <a:srgbClr val="FF6B35"/>
                </a:solidFill>
                <a:latin typeface="Segoe UI"/>
              </a:rPr>
              <a:t>Legally Sound Financial Utility — </a:t>
            </a:r>
            <a:r>
              <a:rPr sz="1400" b="0">
                <a:solidFill>
                  <a:srgbClr val="999999"/>
                </a:solidFill>
                <a:latin typeface="Segoe UI"/>
              </a:rPr>
              <a:t>Instead of arbitrarily changing statutory fines, the AI applies accurate Administrative &amp; Towing Surcharges based on vehicle class, proving real financial utility to the enforcement agency.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400" b="1">
                <a:solidFill>
                  <a:srgbClr val="FF6B35"/>
                </a:solidFill>
                <a:latin typeface="Segoe UI"/>
              </a:rPr>
              <a:t>Built-in Error Prevention — </a:t>
            </a:r>
            <a:r>
              <a:rPr sz="1400" b="0">
                <a:solidFill>
                  <a:srgbClr val="999999"/>
                </a:solidFill>
                <a:latin typeface="Segoe UI"/>
              </a:rPr>
              <a:t>Contextual filtering prevents illogical tickets (like helmet laws for cars) from ever being written, acting as a proactive validation layer.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400" b="1">
                <a:solidFill>
                  <a:srgbClr val="FF6B35"/>
                </a:solidFill>
                <a:latin typeface="Segoe UI"/>
              </a:rPr>
              <a:t>Cost-Effective Deployment — </a:t>
            </a:r>
            <a:r>
              <a:rPr sz="1400" b="0">
                <a:solidFill>
                  <a:srgbClr val="999999"/>
                </a:solidFill>
                <a:latin typeface="Segoe UI"/>
              </a:rPr>
              <a:t>Drastically reduces cloud server and API costs by offloading ML inference, data capture, and legal queries entirely to the officer's edge device. Minimal backend footprint.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DRIVELEGAL  |  GIT GUD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ACT V  |  ADVANTAGE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320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Consolas"/>
              </a:defRPr>
            </a:pPr>
            <a:r>
              <a:t>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707070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FFFFFF"/>
                </a:solidFill>
                <a:latin typeface="Georgia"/>
              </a:defRPr>
            </a:pPr>
            <a:r>
              <a:t>DriveLegal.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FFFFFF"/>
                </a:solidFill>
                <a:latin typeface="Georgia"/>
              </a:defRPr>
            </a:pPr>
            <a:r>
              <a:t>Enforce Anywhere.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49039"/>
            <a:ext cx="4572000" cy="1905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AAAAA"/>
                </a:solidFill>
                <a:latin typeface="Segoe UI"/>
              </a:defRPr>
            </a:pPr>
            <a:r>
              <a:t>Special Thanks: Centre of Excellence for Road Safety, IIT Madras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Team Git Gud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AAAAA"/>
                </a:solidFill>
                <a:latin typeface="Consolas"/>
              </a:defRPr>
            </a:pPr>
            <a:r>
              <a:t>CHAITANYA BHARDWAJ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707070"/>
                </a:solidFill>
                <a:latin typeface="Segoe UI"/>
              </a:defRPr>
            </a:pPr>
            <a:r>
              <a:t>Source Code on GitHub  |  Open for Q&amp;A</a:t>
            </a:r>
          </a:p>
        </p:txBody>
      </p:sp>
      <p:pic>
        <p:nvPicPr>
          <p:cNvPr id="12" name="Picture 11" descr="iit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35" y="4023360"/>
            <a:ext cx="1005840" cy="1005840"/>
          </a:xfrm>
          <a:prstGeom prst="rect">
            <a:avLst/>
          </a:prstGeom>
        </p:spPr>
      </p:pic>
      <p:pic>
        <p:nvPicPr>
          <p:cNvPr id="13" name="Picture 12" descr="ministry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4023360"/>
            <a:ext cx="1005840" cy="1005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" y="6309360"/>
            <a:ext cx="10545775" cy="63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ROAD SAFETY HACKATHON 2026  |  IIT MADRAS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1135" y="6400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FFFFF"/>
                </a:solidFill>
                <a:latin typeface="Consolas"/>
              </a:defRPr>
            </a:pPr>
            <a:r>
              <a:t>END OF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